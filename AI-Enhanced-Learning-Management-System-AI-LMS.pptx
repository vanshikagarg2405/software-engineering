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Parkinsans Bold" panose="020B0604020202020204" charset="0"/>
      <p:regular r:id="rId13"/>
    </p:embeddedFont>
    <p:embeddedFont>
      <p:font typeface="Reddit Mono Medium" panose="020B0604020202020204" charset="0"/>
      <p:regular r:id="rId14"/>
    </p:embeddedFont>
    <p:embeddedFont>
      <p:font typeface="Reddit Sans" panose="020B0604020202020204" charset="0"/>
      <p:regular r:id="rId15"/>
    </p:embeddedFont>
    <p:embeddedFont>
      <p:font typeface="Reddit Sans Bold" panose="020B0604020202020204" charset="0"/>
      <p:regular r:id="rId16"/>
    </p:embeddedFont>
    <p:embeddedFont>
      <p:font typeface="Reddit Sans Medium" panose="020B0604020202020204" charset="0"/>
      <p:regular r:id="rId17"/>
    </p:embeddedFont>
    <p:embeddedFont>
      <p:font typeface="Reddit Sans Semi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4:20:20.407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1918 0 0,'-1918'52'0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2T04:20:21.417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0,'1167'0,"-1643"0,479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2T04:20:22.37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74,'4'0,"7"-4,9-2,2-4,1 0,1 1,-3-2,4 1,1 2,-12 2,-8 7,-6 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2T04:20:22.80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2T04:20:22.983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2T04:20:23.154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2T04:20:23.37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04:20:25.45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1 234 0,'1918'-234'0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2T04:20:37.48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2387 80,'-81'0,"-1127"-31,497 10,325 21,434 2,67 12,8 1,633 18,-558-28,385 5,-579-10,4 0,-1 0,0-1,1 1,-1-1,8-3,-15 4,-1 0,1 0,0 0,0 0,0 0,-1 0,1-1,0 1,0 0,0 0,0 0,-1-1,1 1,0 0,0 0,0 0,0-1,0 1,0 0,0 0,0-1,0 1,0 0,0 0,0-1,0 1,0 0,0 0,0 0,0-1,0 1,0 0,0 0,0-1,0 1,0 0,0 0,0-1,1 1,-1 0,0 0,0 0,0-1,0 1,0 0,1 0,-1 0,0 0,0 0,0-1,1 1,-1 0,0 0,0 0,1 0,-26-6,-69-1,-113 6,102 2,-639 1,781-5,0 0,39-11,-1 1,77-8,264-5,-389 27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2T04:20:39.114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1766 51,'-1105'15,"1017"-12,-5-1,-1 4,-98 20,181-24,0 1,0 0,0 1,1 1,-1 0,1 0,0 1,1 0,-1 0,1 1,1 1,-12 11,14-13,1 1,0 0,0 1,0-1,1 1,0 0,1 0,0 0,0 1,0-1,1 1,1-1,-1 1,2 0,-1 0,1 11,1-17,-1 0,0-1,1 1,0 0,0-1,0 1,0-1,0 1,0-1,1 1,-1-1,1 0,-1 1,1-1,0 0,0 0,0-1,0 1,0 0,1-1,-1 1,1-1,-1 1,1-1,-1 0,1 0,-1-1,1 1,0 0,2 0,12 1,-1 0,0-1,33-2,-33 1,-6-1,162-10,-151 8,-1-1,0-1,1-1,-2-1,1-1,23-13,29-21,-27 15,62-27,-79 42,-1-1,0-1,-1-1,-1-1,31-26,-29 23,-22 16,0 0,-1 0,1-1,-1 1,1-1,-1 0,0 0,4-6,-8 9,1 1,-1-1,0 1,1-1,-1 0,0 1,0-1,1 0,-1 1,0-1,0 1,0-1,0 0,0 1,0-1,0 0,0 1,0-1,0 0,0 1,0-1,-1 0,1 1,0-1,0 0,-1 1,1-1,0 1,-1-1,0 0,0 0,-1-1,0 1,1 0,-1 0,0 0,1 1,-1-1,0 0,0 1,-3-2,-3 1,0 0,1 0,-1 1,-14 1,-59 9,1 3,-139 43,188-44,-1-3,-1 0,0-2,0-2,0-1,-49 0,66-4,-34-2,47 1,0 1,0-1,0 0,0 0,0 0,0 0,0-1,0 1,1-1,-1 1,1-1,-1 0,-2-2,5 3,-1 0,1 0,-1 1,1-1,0 0,-1 0,1 0,0 1,-1-1,1 0,0 0,0 0,0 0,0 0,0 1,0-1,0 0,0 0,0 0,1 0,-1 0,0 1,0-1,1 0,-1 0,0 0,1 1,-1-1,1 0,-1 1,1-1,0 0,-1 1,1-1,0 0,-1 1,1-1,0 1,-1 0,3-1,32-19,-34 19,96-37,-69 28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2T04:20:39.73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1,'66'0,"141"4,141 2,77 0,6-2,-47 0,-69-2,-73-1,-74-1,-61 0,-44 0,-24 0,-15-1,-11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6344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AI-LMS is a proposed centralized platform for course management, assessment, progress tracking, and AI-powered academic assistance.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LMS SRS.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LMS SRS.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attached high-level UML use-case diagram as the source figure. Emphasize the main flows rather than shrinking every use case into unreadable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attached class diagram as the source figure. The model is proposed design, not implemented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LMS SRS.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LMS SRS.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Conceptual flow: User interface → backend/API → database and file storage → AI services when required → response to user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AI-LMS extends conventional LMS capabilities while preserving teacher oversight, privacy, security, and academic-integrity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9.png"/><Relationship Id="rId18" Type="http://schemas.openxmlformats.org/officeDocument/2006/relationships/image" Target="../media/image10.png"/><Relationship Id="rId3" Type="http://schemas.openxmlformats.org/officeDocument/2006/relationships/image" Target="../media/image3.png"/><Relationship Id="rId21" Type="http://schemas.openxmlformats.org/officeDocument/2006/relationships/customXml" Target="../ink/ink10.xml"/><Relationship Id="rId7" Type="http://schemas.openxmlformats.org/officeDocument/2006/relationships/image" Target="../media/image6.png"/><Relationship Id="rId12" Type="http://schemas.openxmlformats.org/officeDocument/2006/relationships/customXml" Target="../ink/ink4.xml"/><Relationship Id="rId17" Type="http://schemas.openxmlformats.org/officeDocument/2006/relationships/customXml" Target="../ink/ink8.xml"/><Relationship Id="rId25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7.xml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8.png"/><Relationship Id="rId24" Type="http://schemas.openxmlformats.org/officeDocument/2006/relationships/image" Target="../media/image13.png"/><Relationship Id="rId5" Type="http://schemas.openxmlformats.org/officeDocument/2006/relationships/image" Target="../media/image5.png"/><Relationship Id="rId15" Type="http://schemas.openxmlformats.org/officeDocument/2006/relationships/customXml" Target="../ink/ink6.xml"/><Relationship Id="rId23" Type="http://schemas.openxmlformats.org/officeDocument/2006/relationships/customXml" Target="../ink/ink11.xml"/><Relationship Id="rId10" Type="http://schemas.openxmlformats.org/officeDocument/2006/relationships/customXml" Target="../ink/ink3.xml"/><Relationship Id="rId19" Type="http://schemas.openxmlformats.org/officeDocument/2006/relationships/customXml" Target="../ink/ink9.xml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customXml" Target="../ink/ink5.xml"/><Relationship Id="rId22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3" name="Shape 1"/>
          <p:cNvSpPr/>
          <p:nvPr/>
        </p:nvSpPr>
        <p:spPr>
          <a:xfrm>
            <a:off x="711182" y="711200"/>
            <a:ext cx="831035" cy="254000"/>
          </a:xfrm>
          <a:prstGeom prst="roundRect">
            <a:avLst>
              <a:gd name="adj" fmla="val 49999"/>
            </a:avLst>
          </a:prstGeom>
          <a:solidFill>
            <a:srgbClr val="FF8420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771525"/>
            <a:ext cx="118662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kern="100" spc="26" dirty="0">
                <a:solidFill>
                  <a:srgbClr val="00000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AI-LMS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1182" y="1331317"/>
            <a:ext cx="6095848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5000" b="1" kern="100" spc="-100" dirty="0">
                <a:solidFill>
                  <a:srgbClr val="FFFFFF"/>
                </a:solidFill>
                <a:latin typeface="Parkinsans Bold" pitchFamily="34" charset="0"/>
                <a:ea typeface="Parkinsans Bold" pitchFamily="34" charset="-122"/>
                <a:cs typeface="Parkinsans Bold" pitchFamily="34" charset="0"/>
              </a:rPr>
              <a:t>AI-Enhanced Learning Management System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11182" y="4290735"/>
            <a:ext cx="6095848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FFFFFF"/>
                </a:solidFill>
                <a:latin typeface="Parkinsans Bold" pitchFamily="34" charset="0"/>
                <a:ea typeface="Parkinsans Bold" pitchFamily="34" charset="-122"/>
                <a:cs typeface="Parkinsans Bold" pitchFamily="34" charset="0"/>
              </a:rPr>
              <a:t>Intelligent, Personalized, and Integrated Digital Learning.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11182" y="6146800"/>
            <a:ext cx="6095848" cy="101600"/>
          </a:xfrm>
          <a:prstGeom prst="rect">
            <a:avLst/>
          </a:prstGeom>
          <a:solidFill>
            <a:srgbClr val="FF8420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5222418"/>
            <a:ext cx="6095848" cy="815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Presented by Vanshika Garg, Satya Prakash Kumar, Vinayak Gupta, Rajneesh Kumar, Sarita Verma · B.Tech Computer Science Engineering · KIET Deemed to be University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1F4FE0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008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0"/>
              </a:rPr>
              <a:t>Fragmented learning creates avoidable academic friction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635720"/>
            <a:ext cx="507987" cy="50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2269450"/>
            <a:ext cx="345431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Resources and activities are scattered across platforms.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691" y="1635720"/>
            <a:ext cx="507987" cy="508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68691" y="2269450"/>
            <a:ext cx="345431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Manual evaluation is time-consuming, while students may lack immediate doubt support.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797" y="1635720"/>
            <a:ext cx="507987" cy="508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27797" y="2269450"/>
            <a:ext cx="345431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Learning gaps, study priorities, and responsible academic-integrity review are difficult to manage consistently.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609585" y="3301901"/>
            <a:ext cx="10972526" cy="1026120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10" name="Text 5"/>
          <p:cNvSpPr/>
          <p:nvPr/>
        </p:nvSpPr>
        <p:spPr>
          <a:xfrm>
            <a:off x="838179" y="3535581"/>
            <a:ext cx="1051533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eddit Sans Bold" pitchFamily="34" charset="0"/>
                <a:ea typeface="Reddit Sans Bold" pitchFamily="34" charset="-122"/>
                <a:cs typeface="Reddit Sans Bold" pitchFamily="34" charset="0"/>
              </a:rPr>
              <a:t>Objective:</a:t>
            </a: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 centralize learning, simplify assessment, monitor progress, personalize support, and assist teachers with evidence-led review.</a:t>
            </a:r>
            <a:endParaRPr lang="en-US" sz="1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4159447-C3E5-30D7-646D-CAB94983FC5F}"/>
                  </a:ext>
                </a:extLst>
              </p14:cNvPr>
              <p14:cNvContentPartPr/>
              <p14:nvPr/>
            </p14:nvContentPartPr>
            <p14:xfrm>
              <a:off x="11439272" y="6661910"/>
              <a:ext cx="690840" cy="190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4159447-C3E5-30D7-646D-CAB94983FC5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385272" y="6553910"/>
                <a:ext cx="79848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1430292-576A-840B-0A4A-13FD3077C3AA}"/>
                  </a:ext>
                </a:extLst>
              </p14:cNvPr>
              <p14:cNvContentPartPr/>
              <p14:nvPr/>
            </p14:nvContentPartPr>
            <p14:xfrm>
              <a:off x="11439272" y="6699291"/>
              <a:ext cx="42012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1430292-576A-840B-0A4A-13FD3077C3A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385272" y="6591291"/>
                <a:ext cx="5277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1A70049-C537-E5AE-7224-D9DA2C3F886D}"/>
                  </a:ext>
                </a:extLst>
              </p14:cNvPr>
              <p14:cNvContentPartPr/>
              <p14:nvPr/>
            </p14:nvContentPartPr>
            <p14:xfrm>
              <a:off x="11700272" y="6691313"/>
              <a:ext cx="70920" cy="270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1A70049-C537-E5AE-7224-D9DA2C3F886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646632" y="6583313"/>
                <a:ext cx="17856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B4112E2-A402-E732-0C7F-5C3DA04FE6E2}"/>
                  </a:ext>
                </a:extLst>
              </p14:cNvPr>
              <p14:cNvContentPartPr/>
              <p14:nvPr/>
            </p14:nvContentPartPr>
            <p14:xfrm>
              <a:off x="11765792" y="6708563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B4112E2-A402-E732-0C7F-5C3DA04FE6E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711792" y="6600563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0F89BDB-2FC5-2897-828B-3FA9AA2CE6EE}"/>
                  </a:ext>
                </a:extLst>
              </p14:cNvPr>
              <p14:cNvContentPartPr/>
              <p14:nvPr/>
            </p14:nvContentPartPr>
            <p14:xfrm>
              <a:off x="11765792" y="6708563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0F89BDB-2FC5-2897-828B-3FA9AA2CE6E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711792" y="6600563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DC23E78-1485-7567-ED39-0B9699B3FA19}"/>
                  </a:ext>
                </a:extLst>
              </p14:cNvPr>
              <p14:cNvContentPartPr/>
              <p14:nvPr/>
            </p14:nvContentPartPr>
            <p14:xfrm>
              <a:off x="11765792" y="6708563"/>
              <a:ext cx="36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DC23E78-1485-7567-ED39-0B9699B3FA1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711792" y="6600563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30C3601-E6D2-9E4B-566A-281ED0A69729}"/>
                  </a:ext>
                </a:extLst>
              </p14:cNvPr>
              <p14:cNvContentPartPr/>
              <p14:nvPr/>
            </p14:nvContentPartPr>
            <p14:xfrm>
              <a:off x="11765792" y="6708563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30C3601-E6D2-9E4B-566A-281ED0A6972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711792" y="6600563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963A2DD-D9FC-B3C1-2C30-A47508208F88}"/>
                  </a:ext>
                </a:extLst>
              </p14:cNvPr>
              <p14:cNvContentPartPr/>
              <p14:nvPr/>
            </p14:nvContentPartPr>
            <p14:xfrm>
              <a:off x="11056232" y="6624323"/>
              <a:ext cx="690840" cy="846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963A2DD-D9FC-B3C1-2C30-A47508208F8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002592" y="6516323"/>
                <a:ext cx="79848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27A0976-F1B4-B3CE-6653-02BB5B2586EC}"/>
                  </a:ext>
                </a:extLst>
              </p14:cNvPr>
              <p14:cNvContentPartPr/>
              <p14:nvPr/>
            </p14:nvContentPartPr>
            <p14:xfrm>
              <a:off x="11279792" y="6661403"/>
              <a:ext cx="859320" cy="388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27A0976-F1B4-B3CE-6653-02BB5B2586E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226152" y="6553403"/>
                <a:ext cx="9669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B6C6226-7531-60DC-AF13-C3D23380E8A9}"/>
                  </a:ext>
                </a:extLst>
              </p14:cNvPr>
              <p14:cNvContentPartPr/>
              <p14:nvPr/>
            </p14:nvContentPartPr>
            <p14:xfrm>
              <a:off x="11204912" y="6643763"/>
              <a:ext cx="635760" cy="1418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B6C6226-7531-60DC-AF13-C3D23380E8A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151272" y="6536123"/>
                <a:ext cx="74340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440026A-DAD1-BC8E-67BF-9B8AD7F2F1FD}"/>
                  </a:ext>
                </a:extLst>
              </p14:cNvPr>
              <p14:cNvContentPartPr/>
              <p14:nvPr/>
            </p14:nvContentPartPr>
            <p14:xfrm>
              <a:off x="11336672" y="6652374"/>
              <a:ext cx="1019880" cy="100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440026A-DAD1-BC8E-67BF-9B8AD7F2F1F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282672" y="6544734"/>
                <a:ext cx="1127520" cy="225720"/>
              </a:xfrm>
              <a:prstGeom prst="rect">
                <a:avLst/>
              </a:prstGeom>
            </p:spPr>
          </p:pic>
        </mc:Fallback>
      </mc:AlternateContent>
      <p:pic>
        <p:nvPicPr>
          <p:cNvPr id="25" name="Picture 2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3D2ED4D6-6F4A-0C18-E8F8-5F061A5A10F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939811" y="6516514"/>
            <a:ext cx="1252189" cy="298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090"/>
            <a:ext cx="2346961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24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SYSTEM REQUIREMENTS SPECIFICATION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088350"/>
            <a:ext cx="2346961" cy="2468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0"/>
              </a:rPr>
              <a:t>The SRS defines four capability areas and quality constraints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3734911"/>
            <a:ext cx="2346961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Functional requirements describe system behavior. Non-functional requirements describe quality and constraints.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70823" y="0"/>
            <a:ext cx="4008040" cy="3031232"/>
          </a:xfrm>
          <a:prstGeom prst="rect">
            <a:avLst/>
          </a:prstGeom>
          <a:solidFill>
            <a:srgbClr val="D2DCF9"/>
          </a:solidFill>
          <a:ln/>
        </p:spPr>
      </p:sp>
      <p:sp>
        <p:nvSpPr>
          <p:cNvPr id="6" name="Text 4"/>
          <p:cNvSpPr/>
          <p:nvPr/>
        </p:nvSpPr>
        <p:spPr>
          <a:xfrm>
            <a:off x="4480408" y="609600"/>
            <a:ext cx="82002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408" y="894060"/>
            <a:ext cx="2788771" cy="1905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8" name="Text 6"/>
          <p:cNvSpPr/>
          <p:nvPr/>
        </p:nvSpPr>
        <p:spPr>
          <a:xfrm>
            <a:off x="4480408" y="1040983"/>
            <a:ext cx="278887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0"/>
              </a:rPr>
              <a:t>Student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80408" y="1463496"/>
            <a:ext cx="2788870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Registration, enrollment, materials, submissions, quizzes, notifications, progress, feedback, and learning support.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83655" y="0"/>
            <a:ext cx="4008040" cy="3031232"/>
          </a:xfrm>
          <a:prstGeom prst="rect">
            <a:avLst/>
          </a:prstGeom>
          <a:solidFill>
            <a:srgbClr val="D2DCF9"/>
          </a:solidFill>
          <a:ln/>
        </p:spPr>
      </p:sp>
      <p:sp>
        <p:nvSpPr>
          <p:cNvPr id="11" name="Text 9"/>
          <p:cNvSpPr/>
          <p:nvPr/>
        </p:nvSpPr>
        <p:spPr>
          <a:xfrm>
            <a:off x="8793240" y="609600"/>
            <a:ext cx="8585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93240" y="894060"/>
            <a:ext cx="2788771" cy="1905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13" name="Text 11"/>
          <p:cNvSpPr/>
          <p:nvPr/>
        </p:nvSpPr>
        <p:spPr>
          <a:xfrm>
            <a:off x="8793240" y="1040983"/>
            <a:ext cx="278887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0"/>
              </a:rPr>
              <a:t>Teacher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793240" y="1463496"/>
            <a:ext cx="2788870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Courses, materials, assignments, quizzes, evaluation, announcements, and analytics.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870823" y="3336032"/>
            <a:ext cx="4008040" cy="3031232"/>
          </a:xfrm>
          <a:prstGeom prst="rect">
            <a:avLst/>
          </a:prstGeom>
          <a:solidFill>
            <a:srgbClr val="D2DCF9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408" y="3945632"/>
            <a:ext cx="85792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0"/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80408" y="4230092"/>
            <a:ext cx="2788771" cy="1905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408" y="4377015"/>
            <a:ext cx="278887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0"/>
              </a:rPr>
              <a:t>Admin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480408" y="4799528"/>
            <a:ext cx="278887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Users, roles, categories, reports, security, and audit logs.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183655" y="3336032"/>
            <a:ext cx="4008040" cy="3031232"/>
          </a:xfrm>
          <a:prstGeom prst="rect">
            <a:avLst/>
          </a:prstGeom>
          <a:solidFill>
            <a:srgbClr val="D2DCF9"/>
          </a:solidFill>
          <a:ln/>
        </p:spPr>
      </p:sp>
      <p:sp>
        <p:nvSpPr>
          <p:cNvPr id="21" name="Text 19"/>
          <p:cNvSpPr/>
          <p:nvPr/>
        </p:nvSpPr>
        <p:spPr>
          <a:xfrm>
            <a:off x="8793240" y="3945632"/>
            <a:ext cx="86397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0"/>
              </a:rPr>
              <a:t>04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793240" y="4230092"/>
            <a:ext cx="2788771" cy="1905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23" name="Text 21"/>
          <p:cNvSpPr/>
          <p:nvPr/>
        </p:nvSpPr>
        <p:spPr>
          <a:xfrm>
            <a:off x="8793240" y="4377015"/>
            <a:ext cx="278887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0"/>
              </a:rPr>
              <a:t>AI services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793240" y="4799528"/>
            <a:ext cx="2788870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Course-context Q&amp;A, recommendations, study support, quiz and feedback assistance, and similarity analysis.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6551414"/>
            <a:ext cx="12191695" cy="341610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26" name="Text 24"/>
          <p:cNvSpPr/>
          <p:nvPr/>
        </p:nvSpPr>
        <p:spPr>
          <a:xfrm>
            <a:off x="228594" y="6604119"/>
            <a:ext cx="11963101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Reddit Sans Bold" pitchFamily="34" charset="0"/>
                <a:ea typeface="Reddit Sans Bold" pitchFamily="34" charset="-122"/>
                <a:cs typeface="Reddit Sans Bold" pitchFamily="34" charset="0"/>
              </a:rPr>
              <a:t>Quality constraints:</a:t>
            </a:r>
            <a:r>
              <a:rPr lang="en-US" sz="135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 security and RBAC · usability and accessibility · reliability · maintainability · scalability · privacy · transparent AI use.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090"/>
            <a:ext cx="408423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24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GOVERNED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5490"/>
            <a:ext cx="3474653" cy="164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0"/>
              </a:rPr>
              <a:t>Four actors share one governed learning environment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729131"/>
            <a:ext cx="347465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Role-based access keeps capabilities aligned to responsibility.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5994400"/>
            <a:ext cx="638754" cy="254000"/>
          </a:xfrm>
          <a:prstGeom prst="roundRect">
            <a:avLst>
              <a:gd name="adj" fmla="val 49999"/>
            </a:avLst>
          </a:prstGeom>
          <a:solidFill>
            <a:srgbClr val="12813B"/>
          </a:solidFill>
          <a:ln/>
        </p:spPr>
      </p:sp>
      <p:sp>
        <p:nvSpPr>
          <p:cNvPr id="6" name="Text 4"/>
          <p:cNvSpPr/>
          <p:nvPr/>
        </p:nvSpPr>
        <p:spPr>
          <a:xfrm>
            <a:off x="736582" y="6054725"/>
            <a:ext cx="99434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kern="100" spc="26" dirty="0">
                <a:solidFill>
                  <a:srgbClr val="FFFFF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RBAC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93508" y="304800"/>
            <a:ext cx="25399" cy="2971800"/>
          </a:xfrm>
          <a:prstGeom prst="rect">
            <a:avLst/>
          </a:prstGeom>
          <a:solidFill>
            <a:srgbClr val="B8C2DF"/>
          </a:solidFill>
          <a:ln/>
        </p:spPr>
      </p:sp>
      <p:sp>
        <p:nvSpPr>
          <p:cNvPr id="8" name="Shape 6"/>
          <p:cNvSpPr/>
          <p:nvPr/>
        </p:nvSpPr>
        <p:spPr>
          <a:xfrm>
            <a:off x="5150912" y="3251200"/>
            <a:ext cx="3367995" cy="25400"/>
          </a:xfrm>
          <a:prstGeom prst="rect">
            <a:avLst/>
          </a:prstGeom>
          <a:solidFill>
            <a:srgbClr val="B8C2DF"/>
          </a:solidFill>
          <a:ln/>
        </p:spPr>
      </p:sp>
      <p:sp>
        <p:nvSpPr>
          <p:cNvPr id="9" name="Shape 7"/>
          <p:cNvSpPr/>
          <p:nvPr/>
        </p:nvSpPr>
        <p:spPr>
          <a:xfrm>
            <a:off x="5150912" y="304800"/>
            <a:ext cx="25399" cy="2971800"/>
          </a:xfrm>
          <a:prstGeom prst="rect">
            <a:avLst/>
          </a:prstGeom>
          <a:solidFill>
            <a:srgbClr val="B8C2DF"/>
          </a:solidFill>
          <a:ln/>
        </p:spPr>
      </p:sp>
      <p:sp>
        <p:nvSpPr>
          <p:cNvPr id="10" name="Shape 8"/>
          <p:cNvSpPr/>
          <p:nvPr/>
        </p:nvSpPr>
        <p:spPr>
          <a:xfrm>
            <a:off x="5147737" y="276225"/>
            <a:ext cx="3374345" cy="114300"/>
          </a:xfrm>
          <a:custGeom>
            <a:avLst/>
            <a:gdLst/>
            <a:ahLst/>
            <a:cxnLst/>
            <a:rect l="l" t="t" r="r" b="b"/>
            <a:pathLst>
              <a:path w="3374345" h="114300">
                <a:moveTo>
                  <a:pt x="57149" y="0"/>
                </a:moveTo>
                <a:lnTo>
                  <a:pt x="3317197" y="0"/>
                </a:lnTo>
                <a:arcTo wR="57149" hR="57150" stAng="16200000" swAng="5400000"/>
                <a:lnTo>
                  <a:pt x="3374345" y="114300"/>
                </a:lnTo>
                <a:lnTo>
                  <a:pt x="0" y="114300"/>
                </a:lnTo>
                <a:lnTo>
                  <a:pt x="0" y="57150"/>
                </a:lnTo>
                <a:arcTo wR="57149" hR="57150" stAng="10800000" swAng="5400000"/>
                <a:close/>
              </a:path>
            </a:pathLst>
          </a:custGeom>
          <a:solidFill>
            <a:srgbClr val="1F4FE0"/>
          </a:solidFill>
          <a:ln/>
        </p:spPr>
      </p:sp>
      <p:sp>
        <p:nvSpPr>
          <p:cNvPr id="11" name="Text 9"/>
          <p:cNvSpPr/>
          <p:nvPr/>
        </p:nvSpPr>
        <p:spPr>
          <a:xfrm>
            <a:off x="5785896" y="1225232"/>
            <a:ext cx="209802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0"/>
              </a:rPr>
              <a:t>Student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785896" y="1647746"/>
            <a:ext cx="209802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Learns, submits, attempts quizzes, tracks progress, and uses AI assistance.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2166296" y="304800"/>
            <a:ext cx="25399" cy="2971800"/>
          </a:xfrm>
          <a:prstGeom prst="rect">
            <a:avLst/>
          </a:prstGeom>
          <a:solidFill>
            <a:srgbClr val="B8C2DF"/>
          </a:solidFill>
          <a:ln/>
        </p:spPr>
      </p:sp>
      <p:sp>
        <p:nvSpPr>
          <p:cNvPr id="14" name="Shape 12"/>
          <p:cNvSpPr/>
          <p:nvPr/>
        </p:nvSpPr>
        <p:spPr>
          <a:xfrm>
            <a:off x="8823700" y="3251200"/>
            <a:ext cx="3367995" cy="25400"/>
          </a:xfrm>
          <a:prstGeom prst="rect">
            <a:avLst/>
          </a:prstGeom>
          <a:solidFill>
            <a:srgbClr val="B8C2DF"/>
          </a:solidFill>
          <a:ln/>
        </p:spPr>
      </p:sp>
      <p:sp>
        <p:nvSpPr>
          <p:cNvPr id="15" name="Shape 13"/>
          <p:cNvSpPr/>
          <p:nvPr/>
        </p:nvSpPr>
        <p:spPr>
          <a:xfrm>
            <a:off x="8823700" y="304800"/>
            <a:ext cx="25399" cy="2971800"/>
          </a:xfrm>
          <a:prstGeom prst="rect">
            <a:avLst/>
          </a:prstGeom>
          <a:solidFill>
            <a:srgbClr val="B8C2DF"/>
          </a:solidFill>
          <a:ln/>
        </p:spPr>
      </p:sp>
      <p:sp>
        <p:nvSpPr>
          <p:cNvPr id="16" name="Shape 14"/>
          <p:cNvSpPr/>
          <p:nvPr/>
        </p:nvSpPr>
        <p:spPr>
          <a:xfrm>
            <a:off x="8820525" y="276225"/>
            <a:ext cx="3374345" cy="114300"/>
          </a:xfrm>
          <a:custGeom>
            <a:avLst/>
            <a:gdLst/>
            <a:ahLst/>
            <a:cxnLst/>
            <a:rect l="l" t="t" r="r" b="b"/>
            <a:pathLst>
              <a:path w="3374345" h="114300">
                <a:moveTo>
                  <a:pt x="57149" y="0"/>
                </a:moveTo>
                <a:lnTo>
                  <a:pt x="3317197" y="0"/>
                </a:lnTo>
                <a:arcTo wR="57149" hR="57150" stAng="16200000" swAng="5400000"/>
                <a:lnTo>
                  <a:pt x="3374345" y="114300"/>
                </a:lnTo>
                <a:lnTo>
                  <a:pt x="0" y="114300"/>
                </a:lnTo>
                <a:lnTo>
                  <a:pt x="0" y="57150"/>
                </a:lnTo>
                <a:arcTo wR="57149" hR="57150" stAng="10800000" swAng="5400000"/>
                <a:close/>
              </a:path>
            </a:pathLst>
          </a:custGeom>
          <a:solidFill>
            <a:srgbClr val="1F4FE0"/>
          </a:solidFill>
          <a:ln/>
        </p:spPr>
      </p:sp>
      <p:sp>
        <p:nvSpPr>
          <p:cNvPr id="17" name="Text 15"/>
          <p:cNvSpPr/>
          <p:nvPr/>
        </p:nvSpPr>
        <p:spPr>
          <a:xfrm>
            <a:off x="9458684" y="1225232"/>
            <a:ext cx="209802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0"/>
              </a:rPr>
              <a:t>Teacher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458684" y="1647746"/>
            <a:ext cx="2098027" cy="120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Creates learning experiences, evaluates work, publishes updates, and reviews analytics and integrity reports.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493508" y="3886200"/>
            <a:ext cx="25399" cy="2971800"/>
          </a:xfrm>
          <a:prstGeom prst="rect">
            <a:avLst/>
          </a:prstGeom>
          <a:solidFill>
            <a:srgbClr val="B8C2DF"/>
          </a:solidFill>
          <a:ln/>
        </p:spPr>
      </p:sp>
      <p:sp>
        <p:nvSpPr>
          <p:cNvPr id="20" name="Shape 18"/>
          <p:cNvSpPr/>
          <p:nvPr/>
        </p:nvSpPr>
        <p:spPr>
          <a:xfrm>
            <a:off x="5150912" y="6832600"/>
            <a:ext cx="3367995" cy="25400"/>
          </a:xfrm>
          <a:prstGeom prst="rect">
            <a:avLst/>
          </a:prstGeom>
          <a:solidFill>
            <a:srgbClr val="B8C2DF"/>
          </a:solidFill>
          <a:ln/>
        </p:spPr>
      </p:sp>
      <p:sp>
        <p:nvSpPr>
          <p:cNvPr id="21" name="Shape 19"/>
          <p:cNvSpPr/>
          <p:nvPr/>
        </p:nvSpPr>
        <p:spPr>
          <a:xfrm>
            <a:off x="5150912" y="3886200"/>
            <a:ext cx="25399" cy="2971800"/>
          </a:xfrm>
          <a:prstGeom prst="rect">
            <a:avLst/>
          </a:prstGeom>
          <a:solidFill>
            <a:srgbClr val="B8C2DF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7737" y="3857625"/>
            <a:ext cx="3374345" cy="114300"/>
          </a:xfrm>
          <a:custGeom>
            <a:avLst/>
            <a:gdLst/>
            <a:ahLst/>
            <a:cxnLst/>
            <a:rect l="l" t="t" r="r" b="b"/>
            <a:pathLst>
              <a:path w="3374345" h="114300">
                <a:moveTo>
                  <a:pt x="57149" y="0"/>
                </a:moveTo>
                <a:lnTo>
                  <a:pt x="3317197" y="0"/>
                </a:lnTo>
                <a:arcTo wR="57149" hR="57150" stAng="16200000" swAng="5400000"/>
                <a:lnTo>
                  <a:pt x="3374345" y="114300"/>
                </a:lnTo>
                <a:lnTo>
                  <a:pt x="0" y="114300"/>
                </a:lnTo>
                <a:lnTo>
                  <a:pt x="0" y="57150"/>
                </a:lnTo>
                <a:arcTo wR="57149" hR="57150" stAng="10800000" swAng="5400000"/>
                <a:close/>
              </a:path>
            </a:pathLst>
          </a:custGeom>
          <a:solidFill>
            <a:srgbClr val="1F4FE0"/>
          </a:solidFill>
          <a:ln/>
        </p:spPr>
      </p:sp>
      <p:sp>
        <p:nvSpPr>
          <p:cNvPr id="23" name="Text 21"/>
          <p:cNvSpPr/>
          <p:nvPr/>
        </p:nvSpPr>
        <p:spPr>
          <a:xfrm>
            <a:off x="5785896" y="4806632"/>
            <a:ext cx="209802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0"/>
              </a:rPr>
              <a:t>Admin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785896" y="5229146"/>
            <a:ext cx="209802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Governs users, roles, security, reports, categories, and auditability.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2166296" y="3886200"/>
            <a:ext cx="25399" cy="2971800"/>
          </a:xfrm>
          <a:prstGeom prst="rect">
            <a:avLst/>
          </a:prstGeom>
          <a:solidFill>
            <a:srgbClr val="B8C2DF"/>
          </a:solidFill>
          <a:ln/>
        </p:spPr>
      </p:sp>
      <p:sp>
        <p:nvSpPr>
          <p:cNvPr id="26" name="Shape 24"/>
          <p:cNvSpPr/>
          <p:nvPr/>
        </p:nvSpPr>
        <p:spPr>
          <a:xfrm>
            <a:off x="8823700" y="6832600"/>
            <a:ext cx="3367995" cy="25400"/>
          </a:xfrm>
          <a:prstGeom prst="rect">
            <a:avLst/>
          </a:prstGeom>
          <a:solidFill>
            <a:srgbClr val="B8C2DF"/>
          </a:solidFill>
          <a:ln/>
        </p:spPr>
      </p:sp>
      <p:sp>
        <p:nvSpPr>
          <p:cNvPr id="27" name="Shape 25"/>
          <p:cNvSpPr/>
          <p:nvPr/>
        </p:nvSpPr>
        <p:spPr>
          <a:xfrm>
            <a:off x="8823700" y="3886200"/>
            <a:ext cx="25399" cy="2971800"/>
          </a:xfrm>
          <a:prstGeom prst="rect">
            <a:avLst/>
          </a:prstGeom>
          <a:solidFill>
            <a:srgbClr val="B8C2DF"/>
          </a:solidFill>
          <a:ln/>
        </p:spPr>
      </p:sp>
      <p:sp>
        <p:nvSpPr>
          <p:cNvPr id="28" name="Shape 26"/>
          <p:cNvSpPr/>
          <p:nvPr/>
        </p:nvSpPr>
        <p:spPr>
          <a:xfrm>
            <a:off x="8820525" y="3857625"/>
            <a:ext cx="3374345" cy="114300"/>
          </a:xfrm>
          <a:custGeom>
            <a:avLst/>
            <a:gdLst/>
            <a:ahLst/>
            <a:cxnLst/>
            <a:rect l="l" t="t" r="r" b="b"/>
            <a:pathLst>
              <a:path w="3374345" h="114300">
                <a:moveTo>
                  <a:pt x="57149" y="0"/>
                </a:moveTo>
                <a:lnTo>
                  <a:pt x="3317197" y="0"/>
                </a:lnTo>
                <a:arcTo wR="57149" hR="57150" stAng="16200000" swAng="5400000"/>
                <a:lnTo>
                  <a:pt x="3374345" y="114300"/>
                </a:lnTo>
                <a:lnTo>
                  <a:pt x="0" y="114300"/>
                </a:lnTo>
                <a:lnTo>
                  <a:pt x="0" y="57150"/>
                </a:lnTo>
                <a:arcTo wR="57149" hR="57150" stAng="10800000" swAng="5400000"/>
                <a:close/>
              </a:path>
            </a:pathLst>
          </a:custGeom>
          <a:solidFill>
            <a:srgbClr val="1F4FE0"/>
          </a:solidFill>
          <a:ln/>
        </p:spPr>
      </p:sp>
      <p:sp>
        <p:nvSpPr>
          <p:cNvPr id="29" name="Text 27"/>
          <p:cNvSpPr/>
          <p:nvPr/>
        </p:nvSpPr>
        <p:spPr>
          <a:xfrm>
            <a:off x="9458684" y="4806632"/>
            <a:ext cx="209802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0"/>
              </a:rPr>
              <a:t>AI Service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458684" y="5229146"/>
            <a:ext cx="2098027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Processes course-grounded questions, learning resources, performance signals, recommendations, and review assistance.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530117" y="0"/>
            <a:ext cx="609585" cy="609600"/>
          </a:xfrm>
          <a:prstGeom prst="ellipse">
            <a:avLst/>
          </a:prstGeom>
          <a:solidFill>
            <a:srgbClr val="1F4FE0"/>
          </a:solidFill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513" y="152400"/>
            <a:ext cx="304792" cy="30480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10202905" y="0"/>
            <a:ext cx="609585" cy="609600"/>
          </a:xfrm>
          <a:prstGeom prst="ellipse">
            <a:avLst/>
          </a:prstGeom>
          <a:solidFill>
            <a:srgbClr val="1F4FE0"/>
          </a:solidFill>
          <a:ln/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5301" y="152400"/>
            <a:ext cx="304792" cy="304800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6530117" y="3581400"/>
            <a:ext cx="609585" cy="609600"/>
          </a:xfrm>
          <a:prstGeom prst="ellipse">
            <a:avLst/>
          </a:prstGeom>
          <a:solidFill>
            <a:srgbClr val="1F4FE0"/>
          </a:solidFill>
          <a:ln/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513" y="3733800"/>
            <a:ext cx="304792" cy="304800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10202905" y="3581400"/>
            <a:ext cx="609585" cy="609600"/>
          </a:xfrm>
          <a:prstGeom prst="ellipse">
            <a:avLst/>
          </a:prstGeom>
          <a:solidFill>
            <a:srgbClr val="1F4FE0"/>
          </a:solidFill>
          <a:ln/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5301" y="3733800"/>
            <a:ext cx="304792" cy="304800"/>
          </a:xfrm>
          <a:prstGeom prst="rect">
            <a:avLst/>
          </a:prstGeom>
        </p:spPr>
      </p:pic>
      <p:pic>
        <p:nvPicPr>
          <p:cNvPr id="39" name="Picture 38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0E8C6F3C-7EFB-DF96-150E-49E747A353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39811" y="6516514"/>
            <a:ext cx="1252189" cy="298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090"/>
            <a:ext cx="525766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24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USE-CASE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5490"/>
            <a:ext cx="4648084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0"/>
              </a:rPr>
              <a:t>Use cases connect learning, teaching, governance, and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317671"/>
            <a:ext cx="464808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Actors, system boundary, associations, and AI interactions define the main flows.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5994400"/>
            <a:ext cx="1504218" cy="254000"/>
          </a:xfrm>
          <a:prstGeom prst="roundRect">
            <a:avLst>
              <a:gd name="adj" fmla="val 49999"/>
            </a:avLst>
          </a:prstGeom>
          <a:solidFill>
            <a:srgbClr val="FF8420"/>
          </a:solidFill>
          <a:ln/>
        </p:spPr>
      </p:sp>
      <p:sp>
        <p:nvSpPr>
          <p:cNvPr id="6" name="Text 4"/>
          <p:cNvSpPr/>
          <p:nvPr/>
        </p:nvSpPr>
        <p:spPr>
          <a:xfrm>
            <a:off x="736582" y="6054725"/>
            <a:ext cx="185980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kern="100" spc="26" dirty="0">
                <a:solidFill>
                  <a:srgbClr val="00000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SOURCE FIGURE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2" y="1847850"/>
            <a:ext cx="5714857" cy="3162300"/>
          </a:xfrm>
          <a:prstGeom prst="rect">
            <a:avLst/>
          </a:prstGeom>
        </p:spPr>
      </p:pic>
      <p:pic>
        <p:nvPicPr>
          <p:cNvPr id="8" name="Picture 7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585BEC45-96D3-CBBE-C4BC-E328DCE49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9811" y="6516514"/>
            <a:ext cx="1252189" cy="298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9200"/>
            <a:ext cx="7975400" cy="441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76443" y="614090"/>
            <a:ext cx="271525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24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PROPOSED DESIGN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476443" y="902823"/>
            <a:ext cx="2105667" cy="2687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b="1" kern="100" spc="-42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0"/>
              </a:rPr>
              <a:t>The proposed data model links core LMS objects to AI services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476443" y="3771126"/>
            <a:ext cx="2105667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Preserve inheritance, representative relationships, multiplicities, and AI-service dependencies.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476443" y="5994400"/>
            <a:ext cx="253994" cy="254000"/>
          </a:xfrm>
          <a:prstGeom prst="ellipse">
            <a:avLst/>
          </a:prstGeom>
          <a:solidFill>
            <a:srgbClr val="12813B"/>
          </a:solidFill>
          <a:ln/>
        </p:spPr>
      </p:sp>
      <p:pic>
        <p:nvPicPr>
          <p:cNvPr id="7" name="Picture 6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BCA279C6-E0D7-82CB-6E83-C0C9DD5E7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9811" y="6516514"/>
            <a:ext cx="1252189" cy="298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09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24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CONTEXTUAL ASSISTANCE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549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0"/>
              </a:rPr>
              <a:t>AI should ground assistance in course context and teacher oversight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90621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AI supports learning and instructor productivity; it does not replace teacher judgment.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369741"/>
            <a:ext cx="82002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2661523"/>
            <a:ext cx="3505112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0"/>
              </a:rPr>
              <a:t>Extract and chunk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3087211"/>
            <a:ext cx="350511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Course materials are extracted and chunked.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19489" y="2369741"/>
            <a:ext cx="8585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19489" y="2661523"/>
            <a:ext cx="3403515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0"/>
              </a:rPr>
              <a:t>Retrieve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19489" y="3087211"/>
            <a:ext cx="340351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Relevant content is retrieved for the learner’s question.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7797" y="2369741"/>
            <a:ext cx="85792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7797" y="2661523"/>
            <a:ext cx="345431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0"/>
              </a:rPr>
              <a:t>Generate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27797" y="3087211"/>
            <a:ext cx="345431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The AI model produces a contextual answer or learning resource.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585" y="3955852"/>
            <a:ext cx="86397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585" y="4247634"/>
            <a:ext cx="3505112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0"/>
              </a:rPr>
              <a:t>Support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9585" y="4673322"/>
            <a:ext cx="350511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Students receive tutor support, notes, flashcards, recommendations, and study planning.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19489" y="3955852"/>
            <a:ext cx="85941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19489" y="4247634"/>
            <a:ext cx="716262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0"/>
              </a:rPr>
              <a:t>Review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419489" y="4673322"/>
            <a:ext cx="716262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Teachers review AI-generated quizzes and feedback before use.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585" y="5705773"/>
            <a:ext cx="10972526" cy="589260"/>
          </a:xfrm>
          <a:prstGeom prst="rect">
            <a:avLst/>
          </a:prstGeom>
          <a:solidFill>
            <a:srgbClr val="FFF1E5"/>
          </a:solidFill>
          <a:ln/>
        </p:spPr>
      </p:sp>
      <p:sp>
        <p:nvSpPr>
          <p:cNvPr id="21" name="Text 19"/>
          <p:cNvSpPr/>
          <p:nvPr/>
        </p:nvSpPr>
        <p:spPr>
          <a:xfrm>
            <a:off x="838179" y="5863253"/>
            <a:ext cx="1074393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eddit Sans Bold" pitchFamily="34" charset="0"/>
                <a:ea typeface="Reddit Sans Bold" pitchFamily="34" charset="-122"/>
                <a:cs typeface="Reddit Sans Bold" pitchFamily="34" charset="0"/>
              </a:rPr>
              <a:t>Verify before relying:</a:t>
            </a: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 AI responses may be inaccurate and should be verified.</a:t>
            </a:r>
            <a:endParaRPr lang="en-US" sz="1600" dirty="0"/>
          </a:p>
        </p:txBody>
      </p:sp>
      <p:pic>
        <p:nvPicPr>
          <p:cNvPr id="22" name="Picture 2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E3CAC06B-92C1-C22E-C281-97993B2D9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9811" y="6516514"/>
            <a:ext cx="1252189" cy="298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09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24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ACCOUNTABLE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549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0"/>
              </a:rPr>
              <a:t>Assignment review combines automation with accountable human judgment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90621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Automation creates evidence. The teacher interprets it and decides.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610406"/>
            <a:ext cx="6400640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0"/>
              </a:rPr>
              <a:t>Review process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09585" y="3058021"/>
            <a:ext cx="6400640" cy="2194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Student submits assignment.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Text is extracted and screened for similarity against available sources.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Where supported, an AI-writing indicator adds a limited signal.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The system produces a highlighted report for teacher review.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Teacher interprets evidence, decides, and may use AI-assisted feedback.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4918" y="2369741"/>
            <a:ext cx="4267192" cy="3878659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8" name="Text 6"/>
          <p:cNvSpPr/>
          <p:nvPr/>
        </p:nvSpPr>
        <p:spPr>
          <a:xfrm>
            <a:off x="7543512" y="2610406"/>
            <a:ext cx="381000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0"/>
              </a:rPr>
              <a:t>Safeguards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543512" y="3058021"/>
            <a:ext cx="3810004" cy="1808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Similarity percentage is not proof of plagiarism.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AI-writing detectors can produce false positives.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Privacy, access control, and careful handling of submissions are essential.</a:t>
            </a:r>
            <a:endParaRPr lang="en-US" sz="1600" dirty="0"/>
          </a:p>
        </p:txBody>
      </p:sp>
      <p:pic>
        <p:nvPicPr>
          <p:cNvPr id="10" name="Picture 9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854703AC-21DA-3749-4454-5C82E1B7B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9811" y="6516514"/>
            <a:ext cx="1252189" cy="298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008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0"/>
              </a:rPr>
              <a:t>The architecture separates user experience, core services, data, and AI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635720"/>
            <a:ext cx="5410065" cy="1485801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876385"/>
            <a:ext cx="4952876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0"/>
              </a:rPr>
              <a:t>Presentation layer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8179" y="2329081"/>
            <a:ext cx="518147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Student, teacher, and admin dashboards.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046" y="1635720"/>
            <a:ext cx="5410065" cy="1485801"/>
          </a:xfrm>
          <a:prstGeom prst="rect">
            <a:avLst/>
          </a:prstGeom>
          <a:solidFill>
            <a:srgbClr val="FFF1E5"/>
          </a:solidFill>
          <a:ln/>
        </p:spPr>
      </p:sp>
      <p:sp>
        <p:nvSpPr>
          <p:cNvPr id="7" name="Text 5"/>
          <p:cNvSpPr/>
          <p:nvPr/>
        </p:nvSpPr>
        <p:spPr>
          <a:xfrm>
            <a:off x="6400640" y="1876385"/>
            <a:ext cx="4952876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0"/>
              </a:rPr>
              <a:t>Application layer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640" y="2329081"/>
            <a:ext cx="495287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Authentication, course, assignment, quiz, progress, notification, and reporting services.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585" y="3273921"/>
            <a:ext cx="5410065" cy="1770261"/>
          </a:xfrm>
          <a:prstGeom prst="rect">
            <a:avLst/>
          </a:prstGeom>
          <a:solidFill>
            <a:srgbClr val="E6F5EB"/>
          </a:solidFill>
          <a:ln/>
        </p:spPr>
      </p:sp>
      <p:sp>
        <p:nvSpPr>
          <p:cNvPr id="10" name="Text 8"/>
          <p:cNvSpPr/>
          <p:nvPr/>
        </p:nvSpPr>
        <p:spPr>
          <a:xfrm>
            <a:off x="838179" y="3514586"/>
            <a:ext cx="4952876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0"/>
              </a:rPr>
              <a:t>Data layer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38179" y="3967281"/>
            <a:ext cx="495287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Database, learning-material storage, submissions, results, and progress records.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046" y="3273921"/>
            <a:ext cx="5410065" cy="1770261"/>
          </a:xfrm>
          <a:prstGeom prst="rect">
            <a:avLst/>
          </a:prstGeom>
          <a:solidFill>
            <a:srgbClr val="FDE9F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640" y="3514586"/>
            <a:ext cx="4952876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0"/>
              </a:rPr>
              <a:t>AI layer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00640" y="3967281"/>
            <a:ext cx="4952876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Tutor, retrieval pipeline, notes and quiz generation, similarity analysis, feedback assistance, and recommendation engine.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585" y="5228332"/>
            <a:ext cx="10972526" cy="1037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Conceptual flow: User interface → backend/API → database and file storage → AI services when required → response to user interface.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Providers, frameworks, and deployment choices remain to be determined.</a:t>
            </a:r>
            <a:endParaRPr lang="en-US" sz="1600" dirty="0"/>
          </a:p>
        </p:txBody>
      </p:sp>
      <p:pic>
        <p:nvPicPr>
          <p:cNvPr id="16" name="Picture 15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03D8A9C-4326-BF39-22D0-7966935CC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9811" y="6516514"/>
            <a:ext cx="1252189" cy="298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11909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38608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FFFFFF"/>
                </a:solidFill>
                <a:latin typeface="Parkinsans Bold" pitchFamily="34" charset="0"/>
                <a:ea typeface="Parkinsans Bold" pitchFamily="34" charset="-122"/>
                <a:cs typeface="Parkinsans Bold" pitchFamily="34" charset="0"/>
              </a:rPr>
              <a:t>AI-LMS brings centralized learning with responsible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2411909"/>
            <a:ext cx="7315017" cy="4446091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513509"/>
            <a:ext cx="1023416" cy="254000"/>
          </a:xfrm>
          <a:prstGeom prst="roundRect">
            <a:avLst>
              <a:gd name="adj" fmla="val 49999"/>
            </a:avLst>
          </a:prstGeom>
          <a:solidFill>
            <a:srgbClr val="FF8420"/>
          </a:solidFill>
          <a:ln/>
        </p:spPr>
      </p:sp>
      <p:sp>
        <p:nvSpPr>
          <p:cNvPr id="6" name="Text 4"/>
          <p:cNvSpPr/>
          <p:nvPr/>
        </p:nvSpPr>
        <p:spPr>
          <a:xfrm>
            <a:off x="736582" y="2573834"/>
            <a:ext cx="137900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kern="100" spc="26" dirty="0">
                <a:solidFill>
                  <a:srgbClr val="00000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BENEFITS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585" y="2956739"/>
            <a:ext cx="629904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One learning environment, simpler assessment management, better performance visibility, faster doubt resolution, personalized support, and more structured review.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585" y="3989189"/>
            <a:ext cx="1311937" cy="254000"/>
          </a:xfrm>
          <a:prstGeom prst="roundRect">
            <a:avLst>
              <a:gd name="adj" fmla="val 49999"/>
            </a:avLst>
          </a:prstGeom>
          <a:solidFill>
            <a:srgbClr val="D6126F"/>
          </a:solidFill>
          <a:ln/>
        </p:spPr>
      </p:sp>
      <p:sp>
        <p:nvSpPr>
          <p:cNvPr id="9" name="Text 7"/>
          <p:cNvSpPr/>
          <p:nvPr/>
        </p:nvSpPr>
        <p:spPr>
          <a:xfrm>
            <a:off x="736582" y="4049514"/>
            <a:ext cx="166752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kern="100" spc="26" dirty="0">
                <a:solidFill>
                  <a:srgbClr val="FFFFF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LIMITATIONS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585" y="4427339"/>
            <a:ext cx="6299042" cy="2075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AI answers may be inaccurate; quality depends on materials and data; similarity and AI-writing signals require interpretation.</a:t>
            </a:r>
            <a:endParaRPr lang="en-US" sz="1600" dirty="0"/>
          </a:p>
          <a:p>
            <a:pPr marL="0" indent="0" algn="l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0"/>
              </a:rPr>
              <a:t>Conclusion:</a:t>
            </a:r>
            <a:r>
              <a:rPr lang="en-US" sz="16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 AI-LMS extends conventional LMS capabilities while preserving teacher oversight, privacy, security, and academic-integrity responsibility.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0"/>
              </a:rPr>
              <a:t>Thank You · Questions?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017" y="2411909"/>
            <a:ext cx="4876678" cy="4446091"/>
          </a:xfrm>
          <a:prstGeom prst="rect">
            <a:avLst/>
          </a:prstGeom>
          <a:solidFill>
            <a:srgbClr val="1F4FE0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2411909"/>
            <a:ext cx="4876678" cy="44460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908</Words>
  <Application>Microsoft Office PowerPoint</Application>
  <PresentationFormat>Widescreen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Reddit Sans</vt:lpstr>
      <vt:lpstr>Arial</vt:lpstr>
      <vt:lpstr>Reddit Sans SemiBold</vt:lpstr>
      <vt:lpstr>Reddit Mono Medium</vt:lpstr>
      <vt:lpstr>Reddit Sans Medium</vt:lpstr>
      <vt:lpstr>Parkinsans Bold</vt:lpstr>
      <vt:lpstr>Reddit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SATYA PRAKASH KUMAR</dc:creator>
  <cp:lastModifiedBy>SATYA PRAKASH KUMAR</cp:lastModifiedBy>
  <cp:revision>3</cp:revision>
  <dcterms:created xsi:type="dcterms:W3CDTF">2026-10-22T04:12:02Z</dcterms:created>
  <dcterms:modified xsi:type="dcterms:W3CDTF">2026-10-22T04:22:54Z</dcterms:modified>
</cp:coreProperties>
</file>